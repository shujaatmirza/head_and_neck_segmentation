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411480" cy="640080"/>
          </a:xfrm>
          <a:prstGeom prst="roundRect">
            <a:avLst/>
          </a:prstGeom>
          <a:solidFill>
            <a:srgbClr val="98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292608" cy="731520"/>
          </a:xfrm>
          <a:prstGeom prst="roundRect">
            <a:avLst/>
          </a:prstGeom>
          <a:solidFill>
            <a:srgbClr val="6A8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01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097280"/>
            <a:ext cx="4160520" cy="292608"/>
          </a:xfrm>
          <a:prstGeom prst="roundRect">
            <a:avLst/>
          </a:prstGeom>
          <a:solidFill>
            <a:srgbClr val="E0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A5C47"/>
                </a:solidFill>
                <a:latin typeface="Calibri"/>
              </a:rPr>
              <a:t>DEEP LEARNING SYSTEMS — NYU COURANT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Georgia"/>
              </a:rPr>
              <a:t>Multi-Organ Segmentation
for Head &amp; Neck Cancer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834640"/>
            <a:ext cx="640080" cy="3175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A systematic study of training strategies for 3D medical image segmentation on CT scans with 9 anatomical structures.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PDDCA15  ·  MONAI  ·  PyTorch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411480" cy="640080"/>
          </a:xfrm>
          <a:prstGeom prst="roundRect">
            <a:avLst/>
          </a:prstGeom>
          <a:solidFill>
            <a:srgbClr val="98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292608" cy="731520"/>
          </a:xfrm>
          <a:prstGeom prst="roundRect">
            <a:avLst/>
          </a:prstGeom>
          <a:solidFill>
            <a:srgbClr val="6A8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E0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A5C47"/>
                </a:solidFill>
                <a:latin typeface="Calibri"/>
              </a:rP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Radiation therapy for head &amp; neck cancer requires precise delineation of organs-at-risk. Manual segmentation is slow, costly, and inconsistent.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651760"/>
            <a:ext cx="2560320" cy="146304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788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A6B5A"/>
                </a:solidFill>
                <a:latin typeface="Calibri"/>
              </a:rPr>
              <a:t>CHALLENGE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90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337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OARs occupy &lt;5% of volume. Naive models predict only background.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651760"/>
            <a:ext cx="2560320" cy="146304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788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B5CA5"/>
                </a:solidFill>
                <a:latin typeface="Calibri"/>
              </a:rPr>
              <a:t>CHALLENGE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990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Memory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37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A single 3D volume + UNet can exceed 30 GB, forcing batch = 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651760"/>
            <a:ext cx="2560320" cy="146304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788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  <a:latin typeface="Calibri"/>
              </a:rPr>
              <a:t>CHALLENGE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990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Limited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337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Only 33 training volumes — high risk of overfitting.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411480" cy="548640"/>
          </a:xfrm>
          <a:prstGeom prst="roundRect">
            <a:avLst/>
          </a:prstGeom>
          <a:solidFill>
            <a:srgbClr val="C7B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292608" cy="731520"/>
          </a:xfrm>
          <a:prstGeom prst="roundRect">
            <a:avLst/>
          </a:prstGeom>
          <a:solidFill>
            <a:srgbClr val="6A8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ECE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A3D7A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PDDCA15 — 9 Organs at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1031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Brain 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5915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3591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Chiasm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1518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151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Mandible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7121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8712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Optic Nerve (Left &amp; Right)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272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272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Parotid Gland (Left &amp; Right)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832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Submandibular (Left &amp; Right)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2011680"/>
            <a:ext cx="3474720" cy="77724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1488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A6B5A"/>
                </a:solidFill>
                <a:latin typeface="Calibri"/>
              </a:rPr>
              <a:t>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50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Georgia"/>
              </a:rPr>
              <a:t>33 CT volumes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PDDCA15 + Cetuximab + PET-CT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2926080"/>
            <a:ext cx="3474720" cy="64008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30632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B5CA5"/>
                </a:solidFill>
                <a:latin typeface="Calibri"/>
              </a:rP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264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Georgia"/>
              </a:rPr>
              <a:t>5 CT volumes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3749040"/>
            <a:ext cx="3474720" cy="64008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  <a:latin typeface="Calibri"/>
              </a:rPr>
              <a:t>AVG. VOLUME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78 × 206 × 164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411480" cy="685800"/>
          </a:xfrm>
          <a:prstGeom prst="roundRect">
            <a:avLst/>
          </a:prstGeom>
          <a:solidFill>
            <a:srgbClr val="F4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292608" cy="731520"/>
          </a:xfrm>
          <a:prstGeom prst="roundRect">
            <a:avLst/>
          </a:prstGeom>
          <a:solidFill>
            <a:srgbClr val="6A8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04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F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A3D4D"/>
                </a:solidFill>
                <a:latin typeface="Calibri"/>
              </a:rPr>
              <a:t>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Model Architectures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Three 3D architectures from MONAI, all with 10-channel output (background + 9 OARs).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468880"/>
            <a:ext cx="2560320" cy="164592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606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7CA5"/>
                </a:solidFill>
                <a:latin typeface="Calibri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07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UNet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54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Features: (32, 64, 128, 256)
3 downsampling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A7CA5"/>
                </a:solidFill>
                <a:latin typeface="Georgia"/>
              </a:rPr>
              <a:t>0.682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468880"/>
            <a:ext cx="2560320" cy="164592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606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A6B5A"/>
                </a:solidFill>
                <a:latin typeface="Calibri"/>
              </a:rPr>
              <a:t>BEST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807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Deeper UNet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154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Features: (32, 64, 128, 256, 512, 32)
5 downsampling levels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6B5A"/>
                </a:solidFill>
                <a:latin typeface="Georgia"/>
              </a:rPr>
              <a:t>0.755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2468880"/>
            <a:ext cx="2560320" cy="164592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606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B5CA5"/>
                </a:solidFill>
                <a:latin typeface="Calibri"/>
              </a:rPr>
              <a:t>ALTERNATIVE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807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SegResNet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154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Residual blocks, deconv upsampling
1.19M parameters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5CA5"/>
                </a:solidFill>
                <a:latin typeface="Georgia"/>
              </a:rPr>
              <a:t>0.660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389120"/>
            <a:ext cx="7772400" cy="50292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4389120"/>
            <a:ext cx="381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462272"/>
            <a:ext cx="7498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Calibri"/>
              </a:rPr>
              <a:t>Key finding: </a:t>
            </a:r>
            <a:r>
              <a:rPr sz="900">
                <a:solidFill>
                  <a:srgbClr val="1A1A1A"/>
                </a:solidFill>
                <a:latin typeface="Calibri"/>
              </a:rPr>
              <a:t>Model depth is critical. Small structures (chiasm, optic nerves) get zero Dice with shallow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411480" cy="731520"/>
          </a:xfrm>
          <a:prstGeom prst="round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05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E2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6A8A"/>
                </a:solidFill>
                <a:latin typeface="Calibri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Loss Function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Dice-CE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029968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2029968"/>
            <a:ext cx="4626864" cy="237744"/>
          </a:xfrm>
          <a:prstGeom prst="round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4" y="2011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0.737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Dice Loss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359152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88920" y="2359152"/>
            <a:ext cx="4405579" cy="237744"/>
          </a:xfrm>
          <a:prstGeom prst="round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5939" y="23408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0.701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Dice-Focal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688336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88920" y="2688336"/>
            <a:ext cx="4370374" cy="237744"/>
          </a:xfrm>
          <a:prstGeom prst="round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0734" y="2670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9992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Masked Dice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3017520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88920" y="3017520"/>
            <a:ext cx="4274820" cy="237744"/>
          </a:xfrm>
          <a:prstGeom prst="round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5180" y="2999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3284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Tversky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3346704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88920" y="3346704"/>
            <a:ext cx="3988155" cy="237744"/>
          </a:xfrm>
          <a:prstGeom prst="round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68515" y="33284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Focal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8920" y="3675888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88920" y="3675888"/>
            <a:ext cx="3973068" cy="237744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3428" y="3657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986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Gen. Dice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88920" y="4005072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88920" y="4005072"/>
            <a:ext cx="1574139" cy="23774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4499" y="39867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0.250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4572000"/>
            <a:ext cx="7772400" cy="50292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71600" y="4572000"/>
            <a:ext cx="381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4480" y="4645152"/>
            <a:ext cx="7498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Calibri"/>
              </a:rPr>
              <a:t>+3.6% over Dice alone. </a:t>
            </a:r>
            <a:r>
              <a:rPr sz="900">
                <a:solidFill>
                  <a:srgbClr val="1A1A1A"/>
                </a:solidFill>
                <a:latin typeface="Calibri"/>
              </a:rPr>
              <a:t>CE provides gradients for large structures; Dice focuses on small organs.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411480" cy="731520"/>
          </a:xfrm>
          <a:prstGeom prst="round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06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E2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6A8A"/>
                </a:solidFill>
                <a:latin typeface="Calibri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Data Augmentation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STANDARD (EPOCH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Elastic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395728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23160" y="2395728"/>
            <a:ext cx="4465929" cy="237744"/>
          </a:xfrm>
          <a:prstGeom prst="round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0529" y="2377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0.710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883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Affine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706624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23160" y="2706624"/>
            <a:ext cx="4450842" cy="237744"/>
          </a:xfrm>
          <a:prstGeom prst="round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5442" y="26883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0.708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992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Zoom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3017520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23160" y="3017520"/>
            <a:ext cx="4410608" cy="237744"/>
          </a:xfrm>
          <a:prstGeom prst="round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5208" y="2999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0.701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101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Sp. Crop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3328416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23160" y="3328416"/>
            <a:ext cx="4310024" cy="237744"/>
          </a:xfrm>
          <a:prstGeom prst="round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4624" y="33101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6210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No Aug.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3639312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23160" y="3639312"/>
            <a:ext cx="4299966" cy="237744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4566" y="36210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DELAYED (EPOCH 40)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Elastic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395728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55080" y="2395728"/>
            <a:ext cx="4581601" cy="237744"/>
          </a:xfrm>
          <a:prstGeom prst="round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28121" y="2377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26883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Affine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2706624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55080" y="2706624"/>
            <a:ext cx="4430725" cy="237744"/>
          </a:xfrm>
          <a:prstGeom prst="round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77245" y="26883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0.705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29992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Zoom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017520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55080" y="3017520"/>
            <a:ext cx="4375404" cy="237744"/>
          </a:xfrm>
          <a:prstGeom prst="round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21924" y="2999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0.696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3101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No Aug.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3328416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55080" y="3328416"/>
            <a:ext cx="4299966" cy="237744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46486" y="33101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36210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Sp. Crop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3639312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55080" y="3639312"/>
            <a:ext cx="4204411" cy="23774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50931" y="36210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0.669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0" y="4206240"/>
            <a:ext cx="7772400" cy="50292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71600" y="4206240"/>
            <a:ext cx="381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4480" y="4279392"/>
            <a:ext cx="7498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Calibri"/>
              </a:rPr>
              <a:t>Delayed elastic deformation is best (+4.4% over baseline). </a:t>
            </a:r>
            <a:r>
              <a:rPr sz="900">
                <a:solidFill>
                  <a:srgbClr val="1A1A1A"/>
                </a:solidFill>
                <a:latin typeface="Calibri"/>
              </a:rPr>
              <a:t>Learn basics first, augment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411480" cy="731520"/>
          </a:xfrm>
          <a:prstGeom prst="round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07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E2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6A8A"/>
                </a:solidFill>
                <a:latin typeface="Calibri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Effective Batch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Gradient accumulation simulates larger batches despite memory constraints (physical batch = 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WITH LR SCALING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2834640"/>
          <a:ext cx="2743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BSZ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Dice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Epoch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0.688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0.661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0.645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0352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WITHOUT LR SCALING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303520" y="2834640"/>
          <a:ext cx="2743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BSZ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Dice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Epoch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0.692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0.679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0.678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0.666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371600" y="4663439"/>
            <a:ext cx="7772400" cy="50292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663439"/>
            <a:ext cx="381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736591"/>
            <a:ext cx="7498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Calibri"/>
              </a:rPr>
              <a:t>Linear LR scaling does not hold </a:t>
            </a:r>
            <a:r>
              <a:rPr sz="900">
                <a:solidFill>
                  <a:srgbClr val="1A1A1A"/>
                </a:solidFill>
                <a:latin typeface="Calibri"/>
              </a:rPr>
              <a:t>for 3D segmentation with variable-sized inputs. Moderate BSZ (2–4) works best.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411480" cy="731520"/>
          </a:xfrm>
          <a:prstGeom prst="round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08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E2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6A8A"/>
                </a:solidFill>
                <a:latin typeface="Calibri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Data Parallelism &amp; Input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MULTI-GPU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468880"/>
            <a:ext cx="1234440" cy="82296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606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A6B5A"/>
                </a:solidFill>
                <a:latin typeface="Calibri"/>
              </a:rPr>
              <a:t>4 GPUS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07208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Georgia"/>
              </a:rPr>
              <a:t>0.668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468880"/>
            <a:ext cx="1234440" cy="82296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606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7CA5"/>
                </a:solidFill>
                <a:latin typeface="Calibri"/>
              </a:rPr>
              <a:t>2 GPUS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807208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Georgia"/>
              </a:rPr>
              <a:t>0.651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468880"/>
            <a:ext cx="1234440" cy="82296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60604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B5CA5"/>
                </a:solidFill>
                <a:latin typeface="Calibri"/>
              </a:rPr>
              <a:t>1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807208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Georgia"/>
              </a:rPr>
              <a:t>0.647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74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More GPUs converge faster per wall-clock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840480"/>
            <a:ext cx="3840480" cy="50292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3840480"/>
            <a:ext cx="381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39136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Requires resizing all volumes to the same dimensions for batching.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INPUT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1.0x (base)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2487168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37960" y="2487168"/>
            <a:ext cx="4299966" cy="237744"/>
          </a:xfrm>
          <a:prstGeom prst="round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29366" y="2468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798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1.2x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2816352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37960" y="2816352"/>
            <a:ext cx="4063593" cy="237744"/>
          </a:xfrm>
          <a:prstGeom prst="round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2993" y="27980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0.647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127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0.8x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145536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37960" y="3145536"/>
            <a:ext cx="3666286" cy="237744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95686" y="3127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0.584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3456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1.4x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3474720"/>
            <a:ext cx="5029200" cy="237744"/>
          </a:xfrm>
          <a:prstGeom prst="roundRect">
            <a:avLst/>
          </a:prstGeom>
          <a:solidFill>
            <a:srgbClr val="EE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37960" y="3474720"/>
            <a:ext cx="3535527" cy="23774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64927" y="3456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onsolas"/>
              </a:rPr>
              <a:t>0.562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023360"/>
            <a:ext cx="3840480" cy="50292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03520" y="4023360"/>
            <a:ext cx="381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40965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Calibri"/>
              </a:rPr>
              <a:t>Non-monotonic: </a:t>
            </a:r>
            <a:r>
              <a:rPr sz="900">
                <a:solidFill>
                  <a:srgbClr val="1A1A1A"/>
                </a:solidFill>
                <a:latin typeface="Calibri"/>
              </a:rPr>
              <a:t>larger inputs exceed the receptive field.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411480" cy="731520"/>
          </a:xfrm>
          <a:prstGeom prst="round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292608" cy="594360"/>
          </a:xfrm>
          <a:prstGeom prst="roundRect">
            <a:avLst/>
          </a:prstGeom>
          <a:solidFill>
            <a:srgbClr val="96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09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E2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6A8A"/>
                </a:solidFill>
                <a:latin typeface="Calibri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Self-Supervised Pretraining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Initialized encoder with Models Genesis weights (pretrained on chest CT via self-supervised proxy tasks).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743200"/>
            <a:ext cx="3200400" cy="100584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803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A6B5A"/>
                </a:solidFill>
                <a:latin typeface="Calibri"/>
              </a:rPr>
              <a:t>WITH PRETRAINING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815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0.675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29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Best at epoch 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743200"/>
            <a:ext cx="3200400" cy="100584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8803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alibri"/>
              </a:rPr>
              <a:t>WITHOUT PRETRAINING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0815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0.672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429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Best at epoch 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114800"/>
            <a:ext cx="6858000" cy="50292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4114800"/>
            <a:ext cx="381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18795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Calibri"/>
              </a:rPr>
              <a:t>Modest benefit (+0.3%). </a:t>
            </a:r>
            <a:r>
              <a:rPr sz="900">
                <a:solidFill>
                  <a:srgbClr val="1A1A1A"/>
                </a:solidFill>
                <a:latin typeface="Calibri"/>
              </a:rPr>
              <a:t>Pretraining accelerates early convergence but the gap closes with longer training. Domain shift (chest → head/neck) limits transfer.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292608" cy="731520"/>
          </a:xfrm>
          <a:prstGeom prst="roundRect">
            <a:avLst/>
          </a:prstGeom>
          <a:solidFill>
            <a:srgbClr val="6A8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411480" cy="594360"/>
          </a:xfrm>
          <a:prstGeom prst="roundRect">
            <a:avLst/>
          </a:prstGeom>
          <a:solidFill>
            <a:srgbClr val="FFE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10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FD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A6520"/>
                </a:solidFill>
                <a:latin typeface="Calibri"/>
              </a:rPr>
              <a:t>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Best Configuration Per Category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201168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371600"/>
              </a:tblGrid>
              <a:tr h="29260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Best Config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A6B5A"/>
                          </a:solidFill>
                          <a:latin typeface="Calibri"/>
                        </a:rPr>
                        <a:t>Mean Dice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Model Architecture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Deeper UNet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0.755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Loss Function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Dice-CE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Delayed Augmentation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Random Elastic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Standard Augmentation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Random Elastic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0.710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Eff. BSZ (No LR Scale)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Batch Size 4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0.692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Eff. BSZ (LR Scale)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Batch Size 2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0.688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Input Resolution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1.0x (base)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0.684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SSL Pretraining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With Pretraining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0.675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Data Parallelism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4 GPUs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55555"/>
                          </a:solidFill>
                          <a:latin typeface="Calibri"/>
                        </a:rPr>
                        <a:t>0.668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292608" cy="731520"/>
          </a:xfrm>
          <a:prstGeom prst="roundRect">
            <a:avLst/>
          </a:prstGeom>
          <a:solidFill>
            <a:srgbClr val="6A8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411480" cy="594360"/>
          </a:xfrm>
          <a:prstGeom prst="roundRect">
            <a:avLst/>
          </a:prstGeom>
          <a:solidFill>
            <a:srgbClr val="FFE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11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286000" cy="292608"/>
          </a:xfrm>
          <a:prstGeom prst="roundRect">
            <a:avLst/>
          </a:prstGeom>
          <a:solidFill>
            <a:srgbClr val="FD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A6520"/>
                </a:solidFill>
                <a:latin typeface="Calibri"/>
              </a:rP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Key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103120"/>
            <a:ext cx="3749039" cy="118872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212848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6B5A"/>
                </a:solidFill>
                <a:latin typeface="Calibri"/>
              </a:rPr>
              <a:t>1. MODEL DEPTH MATTERS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1460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Deeper UNet: 0.755. Shallow networks produce zero Dice for small structures like chiasm and optic nerves.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39" y="2103120"/>
            <a:ext cx="3749039" cy="118872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399" y="2212848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A7CA5"/>
                </a:solidFill>
                <a:latin typeface="Calibri"/>
              </a:rPr>
              <a:t>2. COMBINE LOSS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399" y="251460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Dice-CE improves over Dice alone by +3.6%. CE covers large structures, Dice focuses on small organs.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474720"/>
            <a:ext cx="3749039" cy="118872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584448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860B"/>
                </a:solidFill>
                <a:latin typeface="Calibri"/>
              </a:rPr>
              <a:t>3. AUGMENT AFTER WARM-UP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8620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Delayed elastic deformation: +4.4%. The model learns basic features before seeing augmented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39" y="3474720"/>
            <a:ext cx="3749039" cy="1188720"/>
          </a:xfrm>
          <a:prstGeom prst="roundRect">
            <a:avLst/>
          </a:prstGeom>
          <a:solidFill>
            <a:srgbClr val="F3F0E8"/>
          </a:solidFill>
          <a:ln w="9525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399" y="3584448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5CA5"/>
                </a:solidFill>
                <a:latin typeface="Calibri"/>
              </a:rPr>
              <a:t>4. BATCH SIZE &amp; LR INTERACT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399" y="388620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Linear LR scaling fails for variable-sized 3D volumes. Moderate batch sizes (2–4) without scaling work best.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292608" cy="731520"/>
          </a:xfrm>
          <a:prstGeom prst="roundRect">
            <a:avLst/>
          </a:prstGeom>
          <a:solidFill>
            <a:srgbClr val="6A8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411480" cy="594360"/>
          </a:xfrm>
          <a:prstGeom prst="roundRect">
            <a:avLst/>
          </a:prstGeom>
          <a:solidFill>
            <a:srgbClr val="FFE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12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914400"/>
            <a:ext cx="2971800" cy="292608"/>
          </a:xfrm>
          <a:prstGeom prst="roundRect">
            <a:avLst/>
          </a:prstGeom>
          <a:solidFill>
            <a:srgbClr val="FD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A6520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Georgia"/>
              </a:rPr>
              <a:t>What's Next?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68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Fixed train/test split, no cross-validation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249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249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Only Dice metric — no Hausdorff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8094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9809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Small test set (5 patients)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3697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2369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No ensemble methods explored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FUTURE DIRECTIONS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688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468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K-fold cross-validation with confidence intervals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249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7249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Hausdorff distance &amp; surface DSC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98094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9809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Attention mechanisms (Swin UNETR)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23697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6B5A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2369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nnU-Net self-configuring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9601200" cy="594360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011680"/>
            <a:ext cx="292608" cy="640080"/>
          </a:xfrm>
          <a:prstGeom prst="roundRect">
            <a:avLst/>
          </a:prstGeom>
          <a:solidFill>
            <a:srgbClr val="628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2688336"/>
            <a:ext cx="292608" cy="548640"/>
          </a:xfrm>
          <a:prstGeom prst="roundRect">
            <a:avLst/>
          </a:prstGeom>
          <a:solidFill>
            <a:srgbClr val="7A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3273552"/>
            <a:ext cx="292608" cy="685800"/>
          </a:xfrm>
          <a:prstGeom prst="roundRect">
            <a:avLst/>
          </a:prstGeom>
          <a:solidFill>
            <a:srgbClr val="907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0" y="3995928"/>
            <a:ext cx="292608" cy="731520"/>
          </a:xfrm>
          <a:prstGeom prst="roundRect">
            <a:avLst/>
          </a:prstGeom>
          <a:solidFill>
            <a:srgbClr val="6A8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764024"/>
            <a:ext cx="411480" cy="594360"/>
          </a:xfrm>
          <a:prstGeom prst="roundRect">
            <a:avLst/>
          </a:prstGeom>
          <a:solidFill>
            <a:srgbClr val="FFE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217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onsolas"/>
              </a:rPr>
              <a:t>13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2286000" cy="292608"/>
          </a:xfrm>
          <a:prstGeom prst="roundRect">
            <a:avLst/>
          </a:prstGeom>
          <a:solidFill>
            <a:srgbClr val="FD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A6520"/>
                </a:solidFill>
                <a:latin typeface="Calibri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Georgia"/>
              </a:rPr>
              <a:t>Deeper models + hybrid loss +
delayed augmentation = 0.755 Dice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3200400"/>
            <a:ext cx="731520" cy="3175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566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Across 30+ experiments in 8 categories, model depth, loss design, and smart augmentation are the three most impactful training strategies for 3D medical image segmentation.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NYU Courant  ·  Deep Learning Systems  ·  PDDCA15  ·  MONAI  ·  PyTorch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